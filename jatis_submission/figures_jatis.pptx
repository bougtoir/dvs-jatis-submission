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33333"/>
                </a:solidFill>
              </a:defRPr>
            </a:pPr>
            <a:r>
              <a:t>Fig. 1 — DVS × Noise Inverse Problem: Four Domains and Five Gaps (G1–G5)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914400"/>
            <a:ext cx="2560320" cy="2011680"/>
          </a:xfrm>
          <a:prstGeom prst="roundRect">
            <a:avLst/>
          </a:prstGeom>
          <a:solidFill>
            <a:srgbClr val="4EC5BA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A. DVS Noise</a:t>
            </a:r>
            <a:br/>
            <a:r>
              <a:t>Physical Modeling</a:t>
            </a:r>
            <a:br/>
            <a:r>
              <a:t>(5 papers)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914400"/>
            <a:ext cx="2560320" cy="2011680"/>
          </a:xfrm>
          <a:prstGeom prst="roundRect">
            <a:avLst/>
          </a:prstGeom>
          <a:solidFill>
            <a:srgbClr val="5BAFD0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B. DVS Noise</a:t>
            </a:r>
            <a:br/>
            <a:r>
              <a:t>Filtering Methods</a:t>
            </a:r>
            <a:br/>
            <a:r>
              <a:t>(7 papers)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206240"/>
            <a:ext cx="2560320" cy="2011680"/>
          </a:xfrm>
          <a:prstGeom prst="roundRect">
            <a:avLst/>
          </a:prstGeom>
          <a:solidFill>
            <a:srgbClr val="AFCFB3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C. DVS Astronomy</a:t>
            </a:r>
            <a:br/>
            <a:r>
              <a:t>&amp; Space Apps</a:t>
            </a:r>
            <a:br/>
            <a:r>
              <a:t>(5 papers)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4206240"/>
            <a:ext cx="2560320" cy="2011680"/>
          </a:xfrm>
          <a:prstGeom prst="roundRect">
            <a:avLst/>
          </a:prstGeom>
          <a:solidFill>
            <a:srgbClr val="F5E6BE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D. Noise Inverse</a:t>
            </a:r>
            <a:br/>
            <a:r>
              <a:t>Problem (non-DVS)</a:t>
            </a:r>
            <a:br/>
            <a:r>
              <a:t>(7 papers)</a:t>
            </a:r>
          </a:p>
        </p:txBody>
      </p:sp>
      <p:sp>
        <p:nvSpPr>
          <p:cNvPr id="7" name="Oval 6"/>
          <p:cNvSpPr/>
          <p:nvPr/>
        </p:nvSpPr>
        <p:spPr>
          <a:xfrm>
            <a:off x="7315200" y="914400"/>
            <a:ext cx="2560320" cy="1005840"/>
          </a:xfrm>
          <a:prstGeom prst="ellipse">
            <a:avLst/>
          </a:prstGeom>
          <a:solidFill>
            <a:srgbClr val="F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G1</a:t>
            </a:r>
            <a:br/>
            <a:r>
              <a:t>Bayesian Inverse</a:t>
            </a:r>
            <a:br/>
            <a:r>
              <a:t>Formulation</a:t>
            </a:r>
          </a:p>
        </p:txBody>
      </p:sp>
      <p:sp>
        <p:nvSpPr>
          <p:cNvPr id="8" name="Oval 7"/>
          <p:cNvSpPr/>
          <p:nvPr/>
        </p:nvSpPr>
        <p:spPr>
          <a:xfrm>
            <a:off x="7315200" y="2103120"/>
            <a:ext cx="2560320" cy="1005840"/>
          </a:xfrm>
          <a:prstGeom prst="ellipse">
            <a:avLst/>
          </a:prstGeom>
          <a:solidFill>
            <a:srgbClr val="E88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G2</a:t>
            </a:r>
            <a:br/>
            <a:r>
              <a:t>Auxiliary Channel</a:t>
            </a:r>
            <a:br/>
            <a:r>
              <a:t>Noise Prediction</a:t>
            </a:r>
          </a:p>
        </p:txBody>
      </p:sp>
      <p:sp>
        <p:nvSpPr>
          <p:cNvPr id="9" name="Oval 8"/>
          <p:cNvSpPr/>
          <p:nvPr/>
        </p:nvSpPr>
        <p:spPr>
          <a:xfrm>
            <a:off x="7315200" y="3291840"/>
            <a:ext cx="2560320" cy="1005840"/>
          </a:xfrm>
          <a:prstGeom prst="ellipse">
            <a:avLst/>
          </a:prstGeom>
          <a:solidFill>
            <a:srgbClr val="E88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G3 ★</a:t>
            </a:r>
            <a:br/>
            <a:r>
              <a:t>Astronomy-specific</a:t>
            </a:r>
            <a:br/>
            <a:r>
              <a:t>Pipeline</a:t>
            </a:r>
          </a:p>
        </p:txBody>
      </p:sp>
      <p:sp>
        <p:nvSpPr>
          <p:cNvPr id="10" name="Oval 9"/>
          <p:cNvSpPr/>
          <p:nvPr/>
        </p:nvSpPr>
        <p:spPr>
          <a:xfrm>
            <a:off x="7315200" y="4480560"/>
            <a:ext cx="2560320" cy="1005840"/>
          </a:xfrm>
          <a:prstGeom prst="ellipse">
            <a:avLst/>
          </a:prstGeom>
          <a:solidFill>
            <a:srgbClr val="C86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G4 ★</a:t>
            </a:r>
            <a:br/>
            <a:r>
              <a:t>Template-free</a:t>
            </a:r>
            <a:br/>
            <a:r>
              <a:t>Object Detection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0" y="5669280"/>
            <a:ext cx="2560320" cy="1005840"/>
          </a:xfrm>
          <a:prstGeom prst="ellipse">
            <a:avLst/>
          </a:prstGeom>
          <a:solidFill>
            <a:srgbClr val="908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G5</a:t>
            </a:r>
            <a:br/>
            <a:r>
              <a:t>SciDVS + Large Tel.</a:t>
            </a:r>
            <a:br/>
            <a:r>
              <a:t>Integrated Demo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5943600" y="1417320"/>
            <a:ext cx="1371600" cy="502920"/>
          </a:xfrm>
          <a:prstGeom prst="line">
            <a:avLst/>
          </a:prstGeom>
          <a:ln w="190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3" name="Connector 12"/>
          <p:cNvCxnSpPr/>
          <p:nvPr/>
        </p:nvCxnSpPr>
        <p:spPr>
          <a:xfrm flipV="1">
            <a:off x="5943600" y="2606040"/>
            <a:ext cx="1371600" cy="320040"/>
          </a:xfrm>
          <a:prstGeom prst="line">
            <a:avLst/>
          </a:prstGeom>
          <a:ln w="190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4" name="Connector 13"/>
          <p:cNvCxnSpPr/>
          <p:nvPr/>
        </p:nvCxnSpPr>
        <p:spPr>
          <a:xfrm>
            <a:off x="8595360" y="1920240"/>
            <a:ext cx="0" cy="182880"/>
          </a:xfrm>
          <a:prstGeom prst="line">
            <a:avLst/>
          </a:prstGeom>
          <a:ln w="19050">
            <a:solidFill>
              <a:srgbClr val="C86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5" name="Connector 14"/>
          <p:cNvCxnSpPr/>
          <p:nvPr/>
        </p:nvCxnSpPr>
        <p:spPr>
          <a:xfrm>
            <a:off x="8595360" y="3108960"/>
            <a:ext cx="0" cy="182880"/>
          </a:xfrm>
          <a:prstGeom prst="line">
            <a:avLst/>
          </a:prstGeom>
          <a:ln w="19050">
            <a:solidFill>
              <a:srgbClr val="C86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6" name="Connector 15"/>
          <p:cNvCxnSpPr/>
          <p:nvPr/>
        </p:nvCxnSpPr>
        <p:spPr>
          <a:xfrm>
            <a:off x="8595360" y="4297680"/>
            <a:ext cx="0" cy="182880"/>
          </a:xfrm>
          <a:prstGeom prst="line">
            <a:avLst/>
          </a:prstGeom>
          <a:ln w="19050">
            <a:solidFill>
              <a:srgbClr val="C86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7" name="Connector 16"/>
          <p:cNvCxnSpPr/>
          <p:nvPr/>
        </p:nvCxnSpPr>
        <p:spPr>
          <a:xfrm>
            <a:off x="8595360" y="5486400"/>
            <a:ext cx="0" cy="182880"/>
          </a:xfrm>
          <a:prstGeom prst="line">
            <a:avLst/>
          </a:prstGeom>
          <a:ln w="19050">
            <a:solidFill>
              <a:srgbClr val="C86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sp>
        <p:nvSpPr>
          <p:cNvPr id="18" name="TextBox 17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</a:defRPr>
            </a:pPr>
            <a:r>
              <a:t>Gap map: four surveyed domains (A–D) and five identified gaps (G1–G5). All shapes are individually editable.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</a:defRPr>
            </a:pPr>
            <a:r>
              <a:t>Fig. 2 — PI-DC-DVS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2377440" cy="777240"/>
          </a:xfrm>
          <a:prstGeom prst="roundRect">
            <a:avLst/>
          </a:prstGeom>
          <a:solidFill>
            <a:srgbClr val="4EC5BA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DVS Main Channel</a:t>
            </a:r>
            <a:br/>
            <a:r>
              <a:t>e(t, x, y, 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0" y="914400"/>
            <a:ext cx="2377440" cy="777240"/>
          </a:xfrm>
          <a:prstGeom prst="roundRect">
            <a:avLst/>
          </a:prstGeom>
          <a:solidFill>
            <a:srgbClr val="5BAFD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Auxiliary Channels</a:t>
            </a:r>
            <a:br/>
            <a:r>
              <a:t>T(t), a(t), I(t)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0" y="914400"/>
            <a:ext cx="2377440" cy="777240"/>
          </a:xfrm>
          <a:prstGeom prst="roundRect">
            <a:avLst/>
          </a:prstGeom>
          <a:solidFill>
            <a:srgbClr val="AFCFB3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Physics Model</a:t>
            </a:r>
            <a:br/>
            <a:r>
              <a:t>(A5 Pixel Model)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965960"/>
            <a:ext cx="7498079" cy="777240"/>
          </a:xfrm>
          <a:prstGeom prst="roundRect">
            <a:avLst/>
          </a:prstGeom>
          <a:solidFill>
            <a:srgbClr val="F5E6BE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Stage 1: Noise Forward Model Construction</a:t>
            </a:r>
          </a:p>
          <a:p>
            <a:pPr algn="ctr">
              <a:defRPr sz="1000">
                <a:solidFill>
                  <a:srgbClr val="333333"/>
                </a:solidFill>
              </a:defRPr>
            </a:pPr>
            <a:r>
              <a:t>λ_noise(x,y,t) = F(θ, T(t), bias, I_bg)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971800"/>
            <a:ext cx="7498079" cy="777240"/>
          </a:xfrm>
          <a:prstGeom prst="roundRect">
            <a:avLst/>
          </a:prstGeom>
          <a:solidFill>
            <a:srgbClr val="D0E8F0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Stage 2: Bayesian Inverse Problem Solving (G1)</a:t>
            </a:r>
          </a:p>
          <a:p>
            <a:pPr algn="ctr">
              <a:defRPr sz="1000">
                <a:solidFill>
                  <a:srgbClr val="333333"/>
                </a:solidFill>
              </a:defRPr>
            </a:pPr>
            <a:r>
              <a:t>θ = argmin D(e_obs, F(θ)) — MLE / Variational / DeepClean-type NN (G2)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977639"/>
            <a:ext cx="7498079" cy="777240"/>
          </a:xfrm>
          <a:prstGeom prst="roundRect">
            <a:avLst/>
          </a:prstGeom>
          <a:solidFill>
            <a:srgbClr val="C5E8E0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Stage 3: Residual Event Stream Generation</a:t>
            </a:r>
          </a:p>
          <a:p>
            <a:pPr algn="ctr">
              <a:defRPr sz="1000">
                <a:solidFill>
                  <a:srgbClr val="333333"/>
                </a:solidFill>
              </a:defRPr>
            </a:pPr>
            <a:r>
              <a:t>e_residual = e_obs ⊖ F(θ) — Probabilistic Thinning / Rate Subtraction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983480"/>
            <a:ext cx="7498079" cy="777240"/>
          </a:xfrm>
          <a:prstGeom prst="roundRect">
            <a:avLst/>
          </a:prstGeom>
          <a:solidFill>
            <a:srgbClr val="F0A0A0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Stage 4 (G4): Template-free Object Detection</a:t>
            </a:r>
          </a:p>
          <a:p>
            <a:pPr algn="ctr">
              <a:defRPr sz="1000">
                <a:solidFill>
                  <a:srgbClr val="333333"/>
                </a:solidFill>
              </a:defRPr>
            </a:pPr>
            <a:r>
              <a:t>Residual anomaly detection → shift-and-stack → Statistical test → Cataloging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5989320"/>
            <a:ext cx="7498079" cy="777240"/>
          </a:xfrm>
          <a:prstGeom prst="roundRect">
            <a:avLst/>
          </a:prstGeom>
          <a:solidFill>
            <a:srgbClr val="E0D8F0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Stage 5: Physical Validation</a:t>
            </a:r>
          </a:p>
          <a:p>
            <a:pPr algn="ctr">
              <a:defRPr sz="1000">
                <a:solidFill>
                  <a:srgbClr val="333333"/>
                </a:solidFill>
              </a:defRPr>
            </a:pPr>
            <a:r>
              <a:t>PSD test / Injection-Recovery / Known Object / Blind 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86000" y="1691640"/>
            <a:ext cx="1371600" cy="274320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2" name="Connector 11"/>
          <p:cNvCxnSpPr/>
          <p:nvPr/>
        </p:nvCxnSpPr>
        <p:spPr>
          <a:xfrm flipH="1">
            <a:off x="6035039" y="1691640"/>
            <a:ext cx="1" cy="274320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3" name="Connector 12"/>
          <p:cNvCxnSpPr/>
          <p:nvPr/>
        </p:nvCxnSpPr>
        <p:spPr>
          <a:xfrm flipH="1">
            <a:off x="8412479" y="1691640"/>
            <a:ext cx="1463041" cy="274320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4" name="Connector 13"/>
          <p:cNvCxnSpPr/>
          <p:nvPr/>
        </p:nvCxnSpPr>
        <p:spPr>
          <a:xfrm>
            <a:off x="6035039" y="2743200"/>
            <a:ext cx="0" cy="228600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5" name="Connector 14"/>
          <p:cNvCxnSpPr/>
          <p:nvPr/>
        </p:nvCxnSpPr>
        <p:spPr>
          <a:xfrm>
            <a:off x="6035039" y="3749040"/>
            <a:ext cx="0" cy="228599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6" name="Connector 15"/>
          <p:cNvCxnSpPr/>
          <p:nvPr/>
        </p:nvCxnSpPr>
        <p:spPr>
          <a:xfrm>
            <a:off x="6035039" y="4754879"/>
            <a:ext cx="0" cy="228601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cxnSp>
        <p:nvCxnSpPr>
          <p:cNvPr id="17" name="Connector 16"/>
          <p:cNvCxnSpPr/>
          <p:nvPr/>
        </p:nvCxnSpPr>
        <p:spPr>
          <a:xfrm>
            <a:off x="6035039" y="5760720"/>
            <a:ext cx="0" cy="228600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spPr>
          <a:ln>
            <a:tailEnd type="triangle" w="med" len="med"/>
          </a:ln>
        </a:spPr>
      </p:cxnSp>
      <p:sp>
        <p:nvSpPr>
          <p:cNvPr id="18" name="TextBox 17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</a:defRPr>
            </a:pPr>
            <a:r>
              <a:t>System architecture of the PI-DC-DVS noise inverse problem pipeline. All boxes and arrows are individually editable.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</a:defRPr>
            </a:pPr>
            <a:r>
              <a:t>Fig. 3 — Systematic Evaluation</a:t>
            </a:r>
          </a:p>
        </p:txBody>
      </p:sp>
      <p:pic>
        <p:nvPicPr>
          <p:cNvPr id="3" name="Picture 2" descr="fig3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460" y="822960"/>
            <a:ext cx="6082774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</a:defRPr>
            </a:pPr>
            <a:r>
              <a:t>Boxplot comparison (NRR, SPR, F1, AUC) of three methods on 20 EBSSA recordings.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</a:defRPr>
            </a:pPr>
            <a:r>
              <a:t>Fig. 4 — Per-Recording Comparison</a:t>
            </a:r>
          </a:p>
        </p:txBody>
      </p:sp>
      <p:pic>
        <p:nvPicPr>
          <p:cNvPr id="3" name="Picture 2" descr="fig5_per_reco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822960"/>
            <a:ext cx="10058400" cy="4144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</a:defRPr>
            </a:pPr>
            <a:r>
              <a:t>Per-recording noise removal rate for Fano filter, PI-DC-DVS NN, and temporal filter.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</a:defRPr>
            </a:pPr>
            <a:r>
              <a:t>Fig. 5 — A5 Model Simulation</a:t>
            </a:r>
          </a:p>
        </p:txBody>
      </p:sp>
      <p:pic>
        <p:nvPicPr>
          <p:cNvPr id="3" name="Picture 2" descr="fig4_a5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822960"/>
            <a:ext cx="10058400" cy="30044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</a:defRPr>
            </a:pPr>
            <a:r>
              <a:t>Noise rate and SNR improvement across temperature–illuminance parameter space.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</a:defRPr>
            </a:pPr>
            <a:r>
              <a:t>Fig. 6 — Noise Inverse Demo</a:t>
            </a:r>
          </a:p>
        </p:txBody>
      </p:sp>
      <p:pic>
        <p:nvPicPr>
          <p:cNvPr id="3" name="Picture 2" descr="fig6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679" y="822960"/>
            <a:ext cx="697433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</a:defRPr>
            </a:pPr>
            <a:r>
              <a:t>Raw events → noise map → P_noise distribution → residual with satellite trail.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</a:defRPr>
            </a:pPr>
            <a:r>
              <a:t>Fig. 7 — S/N Improvement</a:t>
            </a:r>
          </a:p>
        </p:txBody>
      </p:sp>
      <p:pic>
        <p:nvPicPr>
          <p:cNvPr id="3" name="Picture 2" descr="fig7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822960"/>
            <a:ext cx="10058400" cy="32198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</a:defRPr>
            </a:pPr>
            <a:r>
              <a:t>Fano factor map, temporal dynamics, and per-pixel SNR distribution.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