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Fig. 1 Event-driven Poisson likelihood-ratio detector</a:t>
            </a:r>
          </a:p>
        </p:txBody>
      </p:sp>
      <p:pic>
        <p:nvPicPr>
          <p:cNvPr id="3" name="Picture 2" descr="fig1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47" y="914400"/>
            <a:ext cx="11049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235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/>
            </a:pPr>
            <a:r>
              <a:t>Each event is scored from the estimated background rate of its neighbourhood and the number of events that arrived in that neighbourhood during the preceding window; the tail probability is the noise probability, so the operating point can be set from a false-alarm budget without labels and no voxel grid is constructed.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Fig. 2 Detection performance across methods</a:t>
            </a:r>
          </a:p>
        </p:txBody>
      </p:sp>
      <p:pic>
        <p:nvPicPr>
          <p:cNvPr id="3" name="Picture 2" descr="fig2_methods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347" y="914400"/>
            <a:ext cx="5715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235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/>
            </a:pPr>
            <a:r>
              <a:t>Mean ROC-AUC with standard deviation over the 43 EBSSA recordings. Dashed line: proposed detector; dotted line: chance. Colours group the proposed method, published unsupervised event filters, event-driven ablations, frame-based and label-free learned ablations, and supervised networks.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Fig. 3 Per-recording paired comparison</a:t>
            </a:r>
          </a:p>
        </p:txBody>
      </p:sp>
      <p:pic>
        <p:nvPicPr>
          <p:cNvPr id="3" name="Picture 2" descr="fig3_pa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771" y="914400"/>
            <a:ext cx="439615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235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/>
            </a:pPr>
            <a:r>
              <a:t>Per-recording ROC-AUC of the proposed detector against (a) the event bilateral filter, (b) YNoise, (c) its voxelised, frame-based form and (d) the supervised MLPF. Circles: 180 x 240-pixel sensor; squares: 240 x 304-pixel sensor. Points above the diagonal favour the proposed detector.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Fig. 4 Computational cost versus event sparsity</a:t>
            </a:r>
          </a:p>
        </p:txBody>
      </p:sp>
      <p:pic>
        <p:nvPicPr>
          <p:cNvPr id="3" name="Picture 2" descr="fig4_sparsity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553" y="914400"/>
            <a:ext cx="874058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235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/>
            </a:pPr>
            <a:r>
              <a:t>(a) Wall-clock time per recording and (b) time per event as a real EBSSA stream is thinned (medians over 3 repeats). Solid: event-driven methods; dashed: frame- or voxel-based methods. Legend entries give the fitted cost exponent.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Fig. 5 Self-calibrated operating points</a:t>
            </a:r>
          </a:p>
        </p:txBody>
      </p:sp>
      <p:pic>
        <p:nvPicPr>
          <p:cNvPr id="3" name="Picture 2" descr="fig5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44941"/>
            <a:ext cx="11277295" cy="45109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235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/>
            </a:pPr>
            <a:r>
              <a:t>(a) Median achieved false-positive rate against the requested budget when each score is cut at its own quantile; dotted line: ideal. (b) Median detection rate at the same budgets. (c) Standardised partial AUC below false-positive rates of 0.01 and 0.001 (0.5 is chance).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Fig. 6 Zero-knowledge deployment</a:t>
            </a:r>
          </a:p>
        </p:txBody>
      </p:sp>
      <p:pic>
        <p:nvPicPr>
          <p:cNvPr id="3" name="Picture 2" descr="fig6_zero_knowl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914400"/>
            <a:ext cx="10972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235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/>
            </a:pPr>
            <a:r>
              <a:t>(a) Mean AUC and median fraction of saturated scores of the rate-adaptive proposal against the dimensionless window k on the two sensor models; dotted line: deployment value. (b) AUC lost when the configuration selected on one sensor is applied to the other. (c) Median achieved false-positive rate on the target sensor with a threshold carried over from the other sensor (dashed) and recalibrated on the target stream without labels (solid).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Fig. 7 Parameter hand-over and two-stage front end</a:t>
            </a:r>
          </a:p>
        </p:txBody>
      </p:sp>
      <p:pic>
        <p:nvPicPr>
          <p:cNvPr id="3" name="Picture 2" descr="fig7_hyb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72" y="914400"/>
            <a:ext cx="1072055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235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/>
            </a:pPr>
            <a:r>
              <a:t>(a) Mean AUC of the zero-knowledge proposal, of YNoise at its published default and of YNoise with its time constant set to the rate-adaptive window W handed over from the proposal, pooled and per sensor model; dotted line: YNoise with label-tuned cross-validation. (b) Mean AUC of the two-stage score against the fraction of the stream passed by stage 1 (hand-over, default and pseudo-label parameterisation of stage 2); dashed line: stage 1 alone; black squares (right axis): median stage-2 time relative to YNoise on the whole stream.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Fig. 8 The same two recordings processed by every stage</a:t>
            </a:r>
          </a:p>
        </p:txBody>
      </p:sp>
      <p:pic>
        <p:nvPicPr>
          <p:cNvPr id="3" name="Picture 2" descr="fig8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45067"/>
            <a:ext cx="11277295" cy="37106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235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/>
            </a:pPr>
            <a:r>
              <a:t>Rows: one recording per sensor model (SL8RB_1957_davis_td, canopus_leos_11_26_atis_td), the recording whose stage-1 AUC is closest to the median of that sensor, with its rate-adaptive window W. Columns: all events; annotated object events; events passed at a requested false-alarm rate of 0.01 by the zero-knowledge proposal, YNoise at its published default, the hybrid hand-over (YNoise with dt = W from the proposal), the hybrid two-stage form (proposal screens, YNoise confirms) with f = 0.1, and the Fano-factor score. Per-pixel count of passed events on a logarithmic grey scale; achieved detection and false-positive rates above each 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